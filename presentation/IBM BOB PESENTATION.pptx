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96E8EB-5BA1-4D83-BB40-5F873D320A1C}" v="386" dt="2026-09-15T13:23:10.5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5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91D33-11B1-141E-0C8F-A0F960F2B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D4D77-413C-1055-A77C-00CC2577E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78338-04F8-1D91-32A4-99201799C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9341-0E5E-4022-B251-BF3863609F5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E0ED7-7C5B-71E6-4B1D-5A24EEA1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4512F-FD3C-B501-1531-5B338916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B8035-6963-4ED6-91F0-CE32F48F4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693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EA8DC-113B-C264-B717-658EFFE0E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D6C4C-6E08-89E7-2818-C145CF0CA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067F5-EFBC-D00D-40D9-B1C186A85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9341-0E5E-4022-B251-BF3863609F5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39D6D-EF04-629E-024C-D0303CD52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D476C-D98B-E4F9-0164-9B96A7C6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B8035-6963-4ED6-91F0-CE32F48F4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35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8D15-CFA5-2FF1-D545-D234A6F1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874D7-4AEE-181F-A475-CD47D05C2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F264E-6A87-03C0-B994-1EB4BE7EE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9341-0E5E-4022-B251-BF3863609F5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9769E-9656-8F7B-B4CB-E4CB1429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8250F-3360-6FCD-23EF-534EFC9C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B8035-6963-4ED6-91F0-CE32F48F4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833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1AAF4-C159-A176-F057-14B333924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B3774-8EAE-3FC1-F463-14CFB83D6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01D02-ECD3-D137-D820-A5CC1F035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4DCD2-EC58-3E0D-A8D8-228DC0DB9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9341-0E5E-4022-B251-BF3863609F5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BB7E8-4416-D724-9601-20524236F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AB33E-F026-7BDB-0BD0-CC1158C0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B8035-6963-4ED6-91F0-CE32F48F4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555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52C6-01B1-0451-4621-52F615D90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7F428-4520-71EB-D28D-CF4FD272F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DC5C7-2B88-BE9C-9E2B-6F7821E84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1E878-87C3-9C39-47C0-8145E854C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62A7B7-E221-5F41-0178-FD03881C3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895302-EF78-DC4E-35D2-8DC10A18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9341-0E5E-4022-B251-BF3863609F5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DF140B-AA10-55E7-484A-E2ECBFB8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DA419-29C2-DD03-65A8-A6D21153A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B8035-6963-4ED6-91F0-CE32F48F4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79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9BC1F-B0D7-2C3E-A1FC-CCC3534AF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4E3DC-796A-0DDF-BA09-9AFC7079A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9341-0E5E-4022-B251-BF3863609F5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095494-4059-182D-0D84-374CA375C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CA844-2196-CE04-78A2-147DD7BC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B8035-6963-4ED6-91F0-CE32F48F4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515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4A9981-94AA-3903-E237-7847801E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9341-0E5E-4022-B251-BF3863609F5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F35594-6068-CDCC-F00C-1E582C6E8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0A4D4-24D8-972D-FEA6-C49F94F67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B8035-6963-4ED6-91F0-CE32F48F4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80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29BDB-9880-A094-4BAF-F1D86F9AD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98EC5-A0A5-E969-BF44-CD5BDDE4C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FDE73-A89F-9F33-58F6-ECA23BB62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83DAB-FBBC-38D5-E219-BB44B2ACA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9341-0E5E-4022-B251-BF3863609F5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2B9E1-700B-C54B-1807-BB7CE577A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4C3E3-3A16-BDCC-6F30-FDF08A4A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B8035-6963-4ED6-91F0-CE32F48F4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876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C24C-6141-A615-CDF8-F56CCCD79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769520-F96F-C3B5-08D8-C53E5183C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6F19E-DB46-37E4-0A55-C31BF1463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09275-6CEB-6117-1372-28A58CF0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9341-0E5E-4022-B251-BF3863609F5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F8062-9730-014C-9CA0-6C217131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06DD6-4646-6FEB-2149-3F2BD54E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B8035-6963-4ED6-91F0-CE32F48F4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251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ECF7-D128-3E81-4A04-0D4889E0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292B2E-1BBE-D4B8-7F13-F8EDB83C7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0C77A-4F3E-FE3E-E88E-073631A5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9341-0E5E-4022-B251-BF3863609F5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B79A0-ED67-7779-25C2-F929C0BA7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45144-6DC6-41F1-23E4-B2752D920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B8035-6963-4ED6-91F0-CE32F48F4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90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81628D-D0A0-438B-2ED4-E0AD89A43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367B52-F052-B29A-6D59-2D2143DE6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5554-68CB-AC98-60EB-CA7088772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9341-0E5E-4022-B251-BF3863609F5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FC8F4-0310-6CF2-6FB6-D0EAA7162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DC00E-B3B5-D463-7A99-E3714A92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B8035-6963-4ED6-91F0-CE32F48F4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554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9B3F0E-DA55-5A6D-FAA7-FFDBAE9D5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6F1FC-4947-829C-7BB8-A9CB6493C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69D23-6EF2-BD60-97A9-73C1E791A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B9341-0E5E-4022-B251-BF3863609F5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05981-B24C-27F6-5F3D-309159168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533F-6DAF-3AAF-5A88-79DC0C289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B8035-6963-4ED6-91F0-CE32F48F4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07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19B9-0090-D4DE-F05B-34BC12B7A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9841" y="270869"/>
            <a:ext cx="10579700" cy="119037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IBM BOB PESENTATION</a:t>
            </a:r>
            <a:r>
              <a:rPr lang="en-US" b="1" u="sng" dirty="0">
                <a:solidFill>
                  <a:srgbClr val="002060"/>
                </a:solidFill>
              </a:rPr>
              <a:t> </a:t>
            </a:r>
            <a:endParaRPr lang="en-IN" b="1" u="sng" dirty="0">
              <a:solidFill>
                <a:srgbClr val="00206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46FC4B-9105-2E32-F6C6-7157179C7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935323"/>
              </p:ext>
            </p:extLst>
          </p:nvPr>
        </p:nvGraphicFramePr>
        <p:xfrm>
          <a:off x="1686709" y="2336023"/>
          <a:ext cx="88132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8265">
                  <a:extLst>
                    <a:ext uri="{9D8B030D-6E8A-4147-A177-3AD203B41FA5}">
                      <a16:colId xmlns:a16="http://schemas.microsoft.com/office/drawing/2014/main" val="4139554985"/>
                    </a:ext>
                  </a:extLst>
                </a:gridCol>
                <a:gridCol w="4355014">
                  <a:extLst>
                    <a:ext uri="{9D8B030D-6E8A-4147-A177-3AD203B41FA5}">
                      <a16:colId xmlns:a16="http://schemas.microsoft.com/office/drawing/2014/main" val="3140482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Project Name:- </a:t>
                      </a:r>
                      <a:endParaRPr lang="en-US" sz="3200" b="1" i="0" u="none" strike="noStrike" noProof="0" dirty="0">
                        <a:solidFill>
                          <a:schemeClr val="tx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200" b="1" i="0" u="none" strike="noStrike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200" b="1" i="0" u="none" strike="noStrike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200" b="1" i="0" u="none" strike="noStrike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Team Name:- </a:t>
                      </a:r>
                      <a:endParaRPr lang="en-US" sz="3200" b="1" i="0" u="none" strike="noStrike" noProof="0" dirty="0">
                        <a:solidFill>
                          <a:schemeClr val="tx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i="0" u="none" strike="noStrike" noProof="0" dirty="0">
                          <a:solidFill>
                            <a:schemeClr val="tx2"/>
                          </a:solidFill>
                          <a:latin typeface="Calibri"/>
                          <a:ea typeface="Calibri"/>
                          <a:cs typeface="Calibri"/>
                        </a:rPr>
                        <a:t>Mission Readiness &amp; Predictive Maintenance Copilot</a:t>
                      </a:r>
                      <a:endParaRPr lang="en-US" sz="3200" b="1" i="0" u="none" strike="noStrike" noProof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200" b="1" i="0" u="none" strike="noStrike" noProof="0" dirty="0">
                        <a:solidFill>
                          <a:schemeClr val="tx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i="0" u="none" strike="noStrike" noProof="0" dirty="0">
                          <a:solidFill>
                            <a:schemeClr val="tx2"/>
                          </a:solidFill>
                          <a:latin typeface="Calibri"/>
                          <a:ea typeface="Calibri"/>
                          <a:cs typeface="Calibri"/>
                        </a:rPr>
                        <a:t>Tech Titans </a:t>
                      </a:r>
                      <a:endParaRPr lang="en-US" sz="3200" b="1" i="0" u="none" strike="noStrike" noProof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200" b="1" i="0" u="none" strike="noStrike" noProof="0" dirty="0">
                        <a:solidFill>
                          <a:schemeClr val="tx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347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932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BEF90-8206-225F-D1C3-81CE40CAF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10" y="159385"/>
            <a:ext cx="10515600" cy="81216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What problem?   Who has it?   Why does it matter?</a:t>
            </a:r>
            <a:endParaRPr lang="en-IN" b="1" dirty="0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0F97E-F825-EF81-5E67-B0E332D9869C}"/>
              </a:ext>
            </a:extLst>
          </p:cNvPr>
          <p:cNvSpPr txBox="1"/>
          <p:nvPr/>
        </p:nvSpPr>
        <p:spPr>
          <a:xfrm>
            <a:off x="650623" y="856728"/>
            <a:ext cx="10693261" cy="61863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Problem:</a:t>
            </a:r>
            <a:br>
              <a:rPr lang="en-IN" dirty="0"/>
            </a:br>
            <a:r>
              <a:rPr lang="en-IN" sz="2000" dirty="0"/>
              <a:t>Aircraft, vehicles, and mission-critical equipment generate large volumes of </a:t>
            </a:r>
            <a:r>
              <a:rPr lang="en-IN" sz="2000" b="1" dirty="0"/>
              <a:t>sensor and operational data</a:t>
            </a:r>
            <a:r>
              <a:rPr lang="en-IN" sz="2000" dirty="0"/>
              <a:t>. Detecting abnormal behaviour early is difficult when relying mainly on manual monitoring or fixed maintenance schedules.</a:t>
            </a:r>
            <a:endParaRPr lang="en-IN" sz="2000" dirty="0">
              <a:ea typeface="Calibri"/>
              <a:cs typeface="Calibri"/>
            </a:endParaRPr>
          </a:p>
          <a:p>
            <a:endParaRPr lang="en-IN" dirty="0"/>
          </a:p>
          <a:p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 has it?</a:t>
            </a:r>
            <a:endParaRPr lang="en-IN" sz="24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/>
              <a:cs typeface="Calibri"/>
            </a:endParaRPr>
          </a:p>
          <a:p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 faces this problem?</a:t>
            </a:r>
            <a:endParaRPr lang="en-IN" sz="24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/>
              <a:cs typeface="Calibri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Defence &amp; aerospace organizations</a:t>
            </a:r>
            <a:r>
              <a:rPr lang="en-IN" dirty="0"/>
              <a:t> managing mission-critical aircraft </a:t>
            </a:r>
            <a:endParaRPr lang="en-IN">
              <a:ea typeface="Calibri"/>
              <a:cs typeface="Calibri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Maintenance engineers and technicians</a:t>
            </a:r>
            <a:r>
              <a:rPr lang="en-IN" dirty="0"/>
              <a:t> responsible for equipment health </a:t>
            </a:r>
            <a:endParaRPr lang="en-IN">
              <a:ea typeface="Calibri"/>
              <a:cs typeface="Calibri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Fleet operators</a:t>
            </a:r>
            <a:r>
              <a:rPr lang="en-IN" dirty="0"/>
              <a:t> managing multiple vehicles or aircraft </a:t>
            </a:r>
            <a:endParaRPr lang="en-IN">
              <a:ea typeface="Calibri"/>
              <a:cs typeface="Calibri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Mission planners</a:t>
            </a:r>
            <a:r>
              <a:rPr lang="en-IN" dirty="0"/>
              <a:t> who need to know whether equipment is ready for deployment</a:t>
            </a:r>
            <a:endParaRPr lang="en-IN">
              <a:ea typeface="Calibri"/>
              <a:cs typeface="Calibri"/>
            </a:endParaRPr>
          </a:p>
          <a:p>
            <a:endParaRPr lang="en-IN" sz="2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/>
              <a:cs typeface="Calibri"/>
            </a:endParaRPr>
          </a:p>
          <a:p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does it matter?</a:t>
            </a:r>
            <a:endParaRPr lang="en-IN" sz="24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/>
              <a:cs typeface="Calibri"/>
            </a:endParaRPr>
          </a:p>
          <a:p>
            <a:r>
              <a:rPr lang="en-IN" dirty="0"/>
              <a:t>It matters because an unexpected component failure can cause:</a:t>
            </a:r>
            <a:endParaRPr lang="en-IN">
              <a:ea typeface="Calibri"/>
              <a:cs typeface="Calibri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Mission failure or operational downtime</a:t>
            </a:r>
            <a:r>
              <a:rPr lang="en-IN" dirty="0"/>
              <a:t> </a:t>
            </a:r>
            <a:endParaRPr lang="en-IN">
              <a:ea typeface="Calibri"/>
              <a:cs typeface="Calibri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Safety risks</a:t>
            </a:r>
            <a:r>
              <a:rPr lang="en-IN" dirty="0"/>
              <a:t> </a:t>
            </a:r>
            <a:endParaRPr lang="en-IN">
              <a:ea typeface="Calibri"/>
              <a:cs typeface="Calibri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Higher maintenance costs</a:t>
            </a:r>
            <a:r>
              <a:rPr lang="en-IN" dirty="0"/>
              <a:t> </a:t>
            </a:r>
            <a:endParaRPr lang="en-IN">
              <a:ea typeface="Calibri"/>
              <a:cs typeface="Calibri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Unnecessary replacement of healthy components</a:t>
            </a:r>
            <a:r>
              <a:rPr lang="en-IN" dirty="0"/>
              <a:t> </a:t>
            </a:r>
            <a:endParaRPr lang="en-IN">
              <a:ea typeface="Calibri"/>
              <a:cs typeface="Calibri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Delays in mission deployment</a:t>
            </a:r>
            <a:endParaRPr lang="en-IN" dirty="0"/>
          </a:p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0B3A04-B48F-46F6-A216-331E01D8DF6B}"/>
              </a:ext>
            </a:extLst>
          </p:cNvPr>
          <p:cNvCxnSpPr/>
          <p:nvPr/>
        </p:nvCxnSpPr>
        <p:spPr>
          <a:xfrm>
            <a:off x="160020" y="2446020"/>
            <a:ext cx="11681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3E440F-4C38-FDEC-5232-320CF88B0271}"/>
              </a:ext>
            </a:extLst>
          </p:cNvPr>
          <p:cNvCxnSpPr>
            <a:cxnSpLocks/>
          </p:cNvCxnSpPr>
          <p:nvPr/>
        </p:nvCxnSpPr>
        <p:spPr>
          <a:xfrm>
            <a:off x="0" y="4606290"/>
            <a:ext cx="11681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976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482E-9A40-31AB-59B4-844142B5D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"/>
            <a:ext cx="10515600" cy="560705"/>
          </a:xfrm>
        </p:spPr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</a:t>
            </a:r>
            <a:endParaRPr lang="en-IN" b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20BA20-D63D-D19D-7CCB-9910B216D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0" y="451802"/>
            <a:ext cx="3017520" cy="59543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F9B09C-B616-64B2-5ACB-368810B36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020" y="732155"/>
            <a:ext cx="8602980" cy="576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150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9780F-66E6-AC58-F704-9D8EE5B8D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398520" y="-12065"/>
            <a:ext cx="10515600" cy="823595"/>
          </a:xfrm>
        </p:spPr>
        <p:txBody>
          <a:bodyPr/>
          <a:lstStyle/>
          <a:p>
            <a:pPr algn="ctr"/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Architecture :-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F24BA-7388-30AB-ACA2-76A8A8720AFC}"/>
              </a:ext>
            </a:extLst>
          </p:cNvPr>
          <p:cNvSpPr txBox="1"/>
          <p:nvPr/>
        </p:nvSpPr>
        <p:spPr>
          <a:xfrm>
            <a:off x="-1465183" y="510963"/>
            <a:ext cx="11711940" cy="581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6F224F-DE4D-B0D4-9598-DB0ABF884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871" y="84032"/>
            <a:ext cx="3410426" cy="6039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2FF721-0F4F-CE0E-3DA3-B51149231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460" y="811530"/>
            <a:ext cx="3191320" cy="588727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0047F0-3600-C00B-6153-447ABEFDE5C7}"/>
              </a:ext>
            </a:extLst>
          </p:cNvPr>
          <p:cNvCxnSpPr>
            <a:cxnSpLocks/>
          </p:cNvCxnSpPr>
          <p:nvPr/>
        </p:nvCxnSpPr>
        <p:spPr>
          <a:xfrm>
            <a:off x="4754880" y="6123725"/>
            <a:ext cx="0" cy="5750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B86530-962E-622A-BE1D-48DC256A87EF}"/>
              </a:ext>
            </a:extLst>
          </p:cNvPr>
          <p:cNvCxnSpPr/>
          <p:nvPr/>
        </p:nvCxnSpPr>
        <p:spPr>
          <a:xfrm>
            <a:off x="4754880" y="6698802"/>
            <a:ext cx="33947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CD3E7D-0545-F97C-8E87-48C84EC7A403}"/>
              </a:ext>
            </a:extLst>
          </p:cNvPr>
          <p:cNvCxnSpPr>
            <a:cxnSpLocks/>
          </p:cNvCxnSpPr>
          <p:nvPr/>
        </p:nvCxnSpPr>
        <p:spPr>
          <a:xfrm flipH="1" flipV="1">
            <a:off x="8086726" y="159197"/>
            <a:ext cx="51434" cy="653960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3DB9A55-4BFE-7350-09C3-A87F4FD3FFFD}"/>
              </a:ext>
            </a:extLst>
          </p:cNvPr>
          <p:cNvCxnSpPr/>
          <p:nvPr/>
        </p:nvCxnSpPr>
        <p:spPr>
          <a:xfrm>
            <a:off x="8149590" y="182880"/>
            <a:ext cx="266319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6A92A6-1899-3D5E-3B25-1315224792A3}"/>
              </a:ext>
            </a:extLst>
          </p:cNvPr>
          <p:cNvCxnSpPr/>
          <p:nvPr/>
        </p:nvCxnSpPr>
        <p:spPr>
          <a:xfrm>
            <a:off x="10789920" y="159197"/>
            <a:ext cx="0" cy="5151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19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F7BDD-A165-CCAC-500B-0F0F9DB0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64" y="12338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</a:t>
            </a:r>
            <a:endParaRPr lang="en-I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BDF939-8CBC-8339-026E-CCF5E70372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355834"/>
            <a:ext cx="5692775" cy="476118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1950CBD-2A24-E447-BCE6-B80E5FBDEB7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55834"/>
            <a:ext cx="5915736" cy="468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428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82BF-4B38-947D-4147-86EA9F81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753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 project working image</a:t>
            </a:r>
            <a:endParaRPr lang="en-I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DA6DBA-2D04-0AB3-C658-DA9AACA37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97" y="693683"/>
            <a:ext cx="10287000" cy="595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63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4C71B-8FB7-FD92-F45D-4B748BB0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55" y="81346"/>
            <a:ext cx="10515600" cy="1325563"/>
          </a:xfrm>
        </p:spPr>
        <p:txBody>
          <a:bodyPr/>
          <a:lstStyle/>
          <a:p>
            <a:pPr algn="ctr"/>
            <a:r>
              <a:rPr lang="en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/ Impacts</a:t>
            </a:r>
            <a:endParaRPr lang="en-I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F5C989-86E3-A24A-5E1A-34CB00EC2C6D}"/>
              </a:ext>
            </a:extLst>
          </p:cNvPr>
          <p:cNvSpPr txBox="1"/>
          <p:nvPr/>
        </p:nvSpPr>
        <p:spPr>
          <a:xfrm>
            <a:off x="1369584" y="1719665"/>
            <a:ext cx="7928617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92.97% status-classification accuracy.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9.54 cycles MAE for RUL prediction.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Predicts READY / WATCH / CRITICAL conditions.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Identifies high-risk assets and components.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Enables earlier maintenance decisions before failure.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Supports prioritized maintenance scheduling.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Helps reduce unexpected downtime and maintenance cost.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Dashboard provides a single view of fleet readiness.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57923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6CCE97-FAF0-FC74-1B75-A7C7D91D4C5C}"/>
              </a:ext>
            </a:extLst>
          </p:cNvPr>
          <p:cNvSpPr txBox="1"/>
          <p:nvPr/>
        </p:nvSpPr>
        <p:spPr>
          <a:xfrm>
            <a:off x="357352" y="367862"/>
            <a:ext cx="11561379" cy="47705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ctr">
              <a:buFont typeface="Wingdings"/>
              <a:buChar char="v"/>
            </a:pPr>
            <a:r>
              <a:rPr lang="en-US" sz="2800" b="1" u="sng" dirty="0"/>
              <a:t>Team Members With their Roles </a:t>
            </a:r>
            <a:endParaRPr lang="en-US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/>
              <a:cs typeface="Calibri"/>
            </a:endParaRPr>
          </a:p>
          <a:p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Solanki Dharma k. 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  / Presentation 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Calibri" panose="020F0502020204030204"/>
            </a:endParaRPr>
          </a:p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      Patel Jeel  N</a:t>
            </a: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- </a:t>
            </a:r>
            <a:r>
              <a:rPr lang="en-US"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React.js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Calibri" panose="020F0502020204030204"/>
            </a:endParaRPr>
          </a:p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Calibri" panose="020F0502020204030204"/>
            </a:endParaRPr>
          </a:p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   Majithiya Aditya M.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SQLite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Calibri" panose="020F0502020204030204"/>
            </a:endParaRPr>
          </a:p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Calibri" panose="020F0502020204030204"/>
            </a:endParaRPr>
          </a:p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       Tala Vinit V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             -    </a:t>
            </a:r>
            <a:r>
              <a:rPr lang="en-US"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React.js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/>
              <a:buChar char="v"/>
            </a:pPr>
            <a:endParaRPr lang="en-IN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96525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254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IBM BOB PESENTATION </vt:lpstr>
      <vt:lpstr>What problem?   Who has it?   Why does it matter?</vt:lpstr>
      <vt:lpstr>Diagram</vt:lpstr>
      <vt:lpstr> Architecture :-</vt:lpstr>
      <vt:lpstr>Demo</vt:lpstr>
      <vt:lpstr>Full project working image</vt:lpstr>
      <vt:lpstr>Results / Impacts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solanki Dharma</dc:creator>
  <cp:lastModifiedBy>solanki Dharma</cp:lastModifiedBy>
  <cp:revision>97</cp:revision>
  <dcterms:created xsi:type="dcterms:W3CDTF">2026-09-15T09:20:58Z</dcterms:created>
  <dcterms:modified xsi:type="dcterms:W3CDTF">2026-09-15T13:23:35Z</dcterms:modified>
</cp:coreProperties>
</file>